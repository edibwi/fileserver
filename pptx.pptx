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419a80f2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419a80f2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419a80f20_9_0)">
  <p:cSld name="Generated (g3e419a80f20_9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D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0" y="2857500"/>
            <a:ext cx="2286000" cy="2286000"/>
          </a:xfrm>
          <a:custGeom>
            <a:rect b="b" l="l" r="r" t="t"/>
            <a:pathLst>
              <a:path extrusionOk="0" h="120000" w="120000">
                <a:moveTo>
                  <a:pt x="0" y="-30000"/>
                </a:moveTo>
                <a:lnTo>
                  <a:pt x="120000" y="-30000"/>
                </a:lnTo>
                <a:lnTo>
                  <a:pt x="0" y="-150000"/>
                </a:lnTo>
                <a:close/>
              </a:path>
            </a:pathLst>
          </a:custGeom>
          <a:solidFill>
            <a:srgbClr val="71B33C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6858000" y="0"/>
            <a:ext cx="2286000" cy="2286000"/>
          </a:xfrm>
          <a:custGeom>
            <a:rect b="b" l="l" r="r" t="t"/>
            <a:pathLst>
              <a:path extrusionOk="0" h="120000" w="120000">
                <a:moveTo>
                  <a:pt x="-240000" y="0"/>
                </a:moveTo>
                <a:lnTo>
                  <a:pt x="-360000" y="0"/>
                </a:lnTo>
                <a:lnTo>
                  <a:pt x="-240000" y="120000"/>
                </a:lnTo>
                <a:close/>
              </a:path>
            </a:pathLst>
          </a:custGeom>
          <a:solidFill>
            <a:srgbClr val="004A2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 txBox="1"/>
          <p:nvPr/>
        </p:nvSpPr>
        <p:spPr>
          <a:xfrm>
            <a:off x="571500" y="4762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30">
                <a:solidFill>
                  <a:srgbClr val="004A26"/>
                </a:solidFill>
                <a:latin typeface="Arial"/>
                <a:ea typeface="Arial"/>
                <a:cs typeface="Arial"/>
                <a:sym typeface="Arial"/>
              </a:rPr>
              <a:t>Selecting Your Professional Template</a:t>
            </a:r>
            <a:endParaRPr b="1" sz="3330">
              <a:solidFill>
                <a:srgbClr val="004A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571500" y="109537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Optimizing for Ecopetrol &amp; Polyrific Brand Guidelines</a:t>
            </a:r>
            <a:endParaRPr b="0" sz="18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p14"/>
          <p:cNvGrpSpPr/>
          <p:nvPr/>
        </p:nvGrpSpPr>
        <p:grpSpPr>
          <a:xfrm>
            <a:off x="571500" y="1714500"/>
            <a:ext cx="2476500" cy="2857500"/>
            <a:chOff x="571500" y="1714500"/>
            <a:chExt cx="2476500" cy="2857500"/>
          </a:xfrm>
        </p:grpSpPr>
        <p:sp>
          <p:nvSpPr>
            <p:cNvPr id="61" name="Google Shape;61;p14"/>
            <p:cNvSpPr/>
            <p:nvPr/>
          </p:nvSpPr>
          <p:spPr>
            <a:xfrm>
              <a:off x="571500" y="171450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clean, modern corporate presentation slide deck layout with green and white color scheme." id="62" name="Google Shape;62;p14"/>
            <p:cNvPicPr preferRelativeResize="0"/>
            <p:nvPr/>
          </p:nvPicPr>
          <p:blipFill rotWithShape="1">
            <a:blip r:embed="rId3">
              <a:alphaModFix/>
            </a:blip>
            <a:srcRect b="0" l="1248" r="1248" t="0"/>
            <a:stretch/>
          </p:blipFill>
          <p:spPr>
            <a:xfrm>
              <a:off x="571500" y="1714500"/>
              <a:ext cx="24765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 txBox="1"/>
            <p:nvPr/>
          </p:nvSpPr>
          <p:spPr>
            <a:xfrm>
              <a:off x="714375" y="3238500"/>
              <a:ext cx="2190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4A26"/>
                  </a:solidFill>
                  <a:latin typeface="Arial"/>
                  <a:ea typeface="Arial"/>
                  <a:cs typeface="Arial"/>
                  <a:sym typeface="Arial"/>
                </a:rPr>
                <a:t>Corporate Standard</a:t>
              </a:r>
              <a:endParaRPr b="1" sz="1100">
                <a:solidFill>
                  <a:srgbClr val="004A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Based on the 2022-2023 Ecopetrol EA Template. Best for formal executive meetings and internal corporate reporting.</a:t>
              </a:r>
              <a:endParaRPr b="0"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3333750" y="1714500"/>
            <a:ext cx="2476500" cy="2857500"/>
            <a:chOff x="3333750" y="1714500"/>
            <a:chExt cx="2476500" cy="2857500"/>
          </a:xfrm>
        </p:grpSpPr>
        <p:sp>
          <p:nvSpPr>
            <p:cNvPr id="65" name="Google Shape;65;p14"/>
            <p:cNvSpPr/>
            <p:nvPr/>
          </p:nvSpPr>
          <p:spPr>
            <a:xfrm>
              <a:off x="3333750" y="171450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high-tech digital disruption presentation slide with blue and purple accents." id="66" name="Google Shape;66;p14"/>
            <p:cNvPicPr preferRelativeResize="0"/>
            <p:nvPr/>
          </p:nvPicPr>
          <p:blipFill rotWithShape="1">
            <a:blip r:embed="rId4">
              <a:alphaModFix/>
            </a:blip>
            <a:srcRect b="0" l="1248" r="1248" t="0"/>
            <a:stretch/>
          </p:blipFill>
          <p:spPr>
            <a:xfrm>
              <a:off x="3333750" y="1714500"/>
              <a:ext cx="24765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14"/>
            <p:cNvSpPr txBox="1"/>
            <p:nvPr/>
          </p:nvSpPr>
          <p:spPr>
            <a:xfrm>
              <a:off x="3476625" y="3238500"/>
              <a:ext cx="2190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4A26"/>
                  </a:solidFill>
                  <a:latin typeface="Arial"/>
                  <a:ea typeface="Arial"/>
                  <a:cs typeface="Arial"/>
                  <a:sym typeface="Arial"/>
                </a:rPr>
                <a:t>Innovation &amp; Tech</a:t>
              </a:r>
              <a:endParaRPr b="1" sz="1100">
                <a:solidFill>
                  <a:srgbClr val="004A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Utilizing the Polyrific Basic Template. Ideal for AI pioneers, project backgrounders, and technical stack reviews.</a:t>
              </a:r>
              <a:endParaRPr b="0"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6096000" y="1714500"/>
            <a:ext cx="2476500" cy="2857500"/>
            <a:chOff x="6096000" y="1714500"/>
            <a:chExt cx="2476500" cy="2857500"/>
          </a:xfrm>
        </p:grpSpPr>
        <p:sp>
          <p:nvSpPr>
            <p:cNvPr id="69" name="Google Shape;69;p14"/>
            <p:cNvSpPr/>
            <p:nvPr/>
          </p:nvSpPr>
          <p:spPr>
            <a:xfrm>
              <a:off x="6096000" y="171450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minimal clean presentation layout with high-impact typography and plenty of whitespace." id="70" name="Google Shape;70;p14"/>
            <p:cNvPicPr preferRelativeResize="0"/>
            <p:nvPr/>
          </p:nvPicPr>
          <p:blipFill rotWithShape="1">
            <a:blip r:embed="rId5">
              <a:alphaModFix/>
            </a:blip>
            <a:srcRect b="0" l="1248" r="1248" t="0"/>
            <a:stretch/>
          </p:blipFill>
          <p:spPr>
            <a:xfrm>
              <a:off x="6096000" y="1714500"/>
              <a:ext cx="24765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14"/>
            <p:cNvSpPr txBox="1"/>
            <p:nvPr/>
          </p:nvSpPr>
          <p:spPr>
            <a:xfrm>
              <a:off x="6238875" y="3238500"/>
              <a:ext cx="2190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4A26"/>
                  </a:solidFill>
                  <a:latin typeface="Arial"/>
                  <a:ea typeface="Arial"/>
                  <a:cs typeface="Arial"/>
                  <a:sym typeface="Arial"/>
                </a:rPr>
                <a:t>Visual Impact</a:t>
              </a:r>
              <a:endParaRPr b="1" sz="1100">
                <a:solidFill>
                  <a:srgbClr val="004A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Focused on Assertion-Evidence principles. Recommended for high-stakes pitches where "less is more".</a:t>
              </a:r>
              <a:endParaRPr b="0"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